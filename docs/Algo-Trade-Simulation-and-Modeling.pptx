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691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680960" y="0"/>
            <a:ext cx="4507992" cy="6858000"/>
          </a:xfrm>
          <a:prstGeom prst="rect">
            <a:avLst/>
          </a:prstGeom>
          <a:solidFill>
            <a:srgbClr val="1616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680960" y="0"/>
            <a:ext cx="18288" cy="6858000"/>
          </a:xfrm>
          <a:prstGeom prst="rect">
            <a:avLst/>
          </a:prstGeom>
          <a:solidFill>
            <a:srgbClr val="2A2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0B981"/>
                </a:solidFill>
                <a:latin typeface="Consolas"/>
              </a:rPr>
              <a:t>SIMULATION &amp; MODELING  ·  FINAL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7498079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6400" b="1" i="0">
                <a:solidFill>
                  <a:srgbClr val="F4F4F5"/>
                </a:solidFill>
                <a:latin typeface="Segoe UI"/>
              </a:rPr>
              <a:t>Algo-Trade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 i="0">
                <a:solidFill>
                  <a:srgbClr val="A1A1AA"/>
                </a:solidFill>
                <a:latin typeface="Segoe UI"/>
              </a:rPr>
              <a:t>Modeling &amp; Simulating the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4F4F5"/>
                </a:solidFill>
                <a:latin typeface="Segoe UI"/>
              </a:rPr>
              <a:t>Options Market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26280"/>
            <a:ext cx="66751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A1A1AA"/>
                </a:solidFill>
                <a:latin typeface="Segoe UI"/>
              </a:rPr>
              <a:t>An event-driven system that models market behavior with mathematical indicators and simulates a full trading strategy end-to-end — without risking a single real dollar.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385816"/>
            <a:ext cx="7315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 dirty="0">
                <a:solidFill>
                  <a:srgbClr val="71717A"/>
                </a:solidFill>
                <a:latin typeface="Consolas"/>
              </a:rPr>
              <a:t>Presented by   </a:t>
            </a:r>
            <a:r>
              <a:rPr sz="1300" b="1" i="0" dirty="0">
                <a:solidFill>
                  <a:srgbClr val="10B981"/>
                </a:solidFill>
                <a:latin typeface="Consolas"/>
              </a:rPr>
              <a:t>Course: Simulation and Modeling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 dirty="0">
                <a:solidFill>
                  <a:srgbClr val="F4F4F5"/>
                </a:solidFill>
                <a:latin typeface="Consolas"/>
              </a:rPr>
              <a:t>Muhammad Ahmad Saleem  F2022065202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 dirty="0">
                <a:solidFill>
                  <a:srgbClr val="F4F4F5"/>
                </a:solidFill>
                <a:latin typeface="Consolas"/>
              </a:rPr>
              <a:t>Danish Salman  F2022065114      </a:t>
            </a:r>
            <a:endParaRPr lang="en-US" sz="1250" b="0" i="0" dirty="0" smtClean="0">
              <a:solidFill>
                <a:srgbClr val="F4F4F5"/>
              </a:solidFill>
              <a:latin typeface="Consolas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 dirty="0" smtClean="0">
                <a:solidFill>
                  <a:srgbClr val="F4F4F5"/>
                </a:solidFill>
                <a:latin typeface="Consolas"/>
              </a:rPr>
              <a:t>Irha </a:t>
            </a:r>
            <a:r>
              <a:rPr sz="1250" b="0" i="0" dirty="0">
                <a:solidFill>
                  <a:srgbClr val="F4F4F5"/>
                </a:solidFill>
                <a:latin typeface="Consolas"/>
              </a:rPr>
              <a:t>Shoaib  F2021065136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0" y="640080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71717A"/>
                </a:solidFill>
                <a:latin typeface="Consolas"/>
              </a:rPr>
              <a:t>● ● ●   live-paper-trade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1280160"/>
            <a:ext cx="4023360" cy="457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10B981"/>
                </a:solidFill>
                <a:latin typeface="Consolas"/>
              </a:rPr>
              <a:t>$ python -m src.cli.main --mode paper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A1A1AA"/>
                </a:solidFill>
                <a:latin typeface="Consolas"/>
              </a:rPr>
              <a:t>[boot] event bus online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A1A1AA"/>
                </a:solidFill>
                <a:latin typeface="Consolas"/>
              </a:rPr>
              <a:t>[scan] top movers: 10 symbols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38BDF8"/>
                </a:solidFill>
                <a:latin typeface="Consolas"/>
              </a:rPr>
              <a:t>[model] RSI=72.4  MACD=+0.31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F59E0B"/>
                </a:solidFill>
                <a:latin typeface="Consolas"/>
              </a:rPr>
              <a:t>[signal] AAPL CALL  conf=0.81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A1A1AA"/>
                </a:solidFill>
                <a:latin typeface="Consolas"/>
              </a:rPr>
              <a:t>[risk]  size=4.0% equity  OK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10B981"/>
                </a:solidFill>
                <a:latin typeface="Consolas"/>
              </a:rPr>
              <a:t>[order] FILLED @ 2.14  (sim)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A1A1AA"/>
                </a:solidFill>
                <a:latin typeface="Consolas"/>
              </a:rPr>
              <a:t>[cb]    daily P&amp;L +1.2%  armed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71717A"/>
                </a:solidFill>
                <a:latin typeface="Consolas"/>
              </a:rPr>
              <a:t>ALGO-TRADE · Simulation &amp; Modeling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71717A"/>
                </a:solidFill>
                <a:latin typeface="Consolas"/>
              </a:rPr>
              <a:t>01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59E0B"/>
                </a:solidFill>
                <a:latin typeface="Consolas"/>
              </a:rPr>
              <a:t>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4F4F5"/>
                </a:solidFill>
                <a:latin typeface="Segoe UI"/>
              </a:rPr>
              <a:t>Why model a market instead of guessing?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6492240" cy="320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4F4F5"/>
                </a:solidFill>
                <a:latin typeface="Segoe UI"/>
              </a:rPr>
              <a:t>Human trading is slow, emotional, and inconsistent.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endParaRPr sz="1800" b="1" i="0">
              <a:solidFill>
                <a:srgbClr val="F4F4F5"/>
              </a:solidFill>
              <a:latin typeface="Segoe UI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A1A1AA"/>
                </a:solidFill>
                <a:latin typeface="Segoe UI"/>
              </a:rPr>
              <a:t>A stock/option market is a complex, noisy, fast-moving system. People react to fear and greed; they can't watch hundreds of symbols at once or apply the same rules every time.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endParaRPr sz="1500" b="0" i="0">
              <a:solidFill>
                <a:srgbClr val="A1A1AA"/>
              </a:solidFill>
              <a:latin typeface="Segoe UI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0B981"/>
                </a:solidFill>
                <a:latin typeface="Segoe UI"/>
              </a:rPr>
              <a:t>The Simulation &amp; Modeling question: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A1A1AA"/>
                </a:solidFill>
                <a:latin typeface="Segoe UI"/>
              </a:rPr>
              <a:t>Can we capture trading decisions as a precise model, then simulate that model against the market to test it safely — before any real money is on the line?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1828800"/>
            <a:ext cx="4206240" cy="1417320"/>
          </a:xfrm>
          <a:prstGeom prst="roundRect">
            <a:avLst/>
          </a:prstGeom>
          <a:solidFill>
            <a:srgbClr val="161619"/>
          </a:solidFill>
          <a:ln w="12700">
            <a:solidFill>
              <a:srgbClr val="2A2A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406640" y="1828800"/>
            <a:ext cx="64008" cy="141732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62671" y="2029968"/>
            <a:ext cx="374903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4F4F5"/>
                </a:solidFill>
                <a:latin typeface="Segoe UI"/>
              </a:rPr>
              <a:t>The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62671" y="2542032"/>
            <a:ext cx="37490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1A1AA"/>
                </a:solidFill>
                <a:latin typeface="Segoe UI"/>
              </a:rPr>
              <a:t>Turn price action into math: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1A1AA"/>
                </a:solidFill>
                <a:latin typeface="Segoe UI"/>
              </a:rPr>
              <a:t>indicators + rules → a signal.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3383280"/>
            <a:ext cx="4206240" cy="1417320"/>
          </a:xfrm>
          <a:prstGeom prst="roundRect">
            <a:avLst/>
          </a:prstGeom>
          <a:solidFill>
            <a:srgbClr val="161619"/>
          </a:solidFill>
          <a:ln w="12700">
            <a:solidFill>
              <a:srgbClr val="2A2A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406640" y="3383280"/>
            <a:ext cx="64008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62671" y="3584448"/>
            <a:ext cx="374903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4F4F5"/>
                </a:solidFill>
                <a:latin typeface="Segoe UI"/>
              </a:rPr>
              <a:t>The simulation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62671" y="4096512"/>
            <a:ext cx="37490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1A1AA"/>
                </a:solidFill>
                <a:latin typeface="Segoe UI"/>
              </a:rPr>
              <a:t>Replay history &amp; run live paper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1A1AA"/>
                </a:solidFill>
                <a:latin typeface="Segoe UI"/>
              </a:rPr>
              <a:t>trades with a mock broker.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4937760"/>
            <a:ext cx="4206240" cy="1051560"/>
          </a:xfrm>
          <a:prstGeom prst="roundRect">
            <a:avLst/>
          </a:prstGeom>
          <a:solidFill>
            <a:srgbClr val="161619"/>
          </a:solidFill>
          <a:ln w="12700">
            <a:solidFill>
              <a:srgbClr val="2A2A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406640" y="4937760"/>
            <a:ext cx="64008" cy="96012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62671" y="5138928"/>
            <a:ext cx="374903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4F4F5"/>
                </a:solidFill>
                <a:latin typeface="Segoe UI"/>
              </a:rPr>
              <a:t>The safety net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62671" y="5436575"/>
            <a:ext cx="3749039" cy="45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 dirty="0">
                <a:solidFill>
                  <a:srgbClr val="A1A1AA"/>
                </a:solidFill>
                <a:latin typeface="Segoe UI"/>
              </a:rPr>
              <a:t>Risk limits + circuit breaker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 dirty="0">
                <a:solidFill>
                  <a:srgbClr val="A1A1AA"/>
                </a:solidFill>
                <a:latin typeface="Segoe UI"/>
              </a:rPr>
              <a:t>stop runaway behavior.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71717A"/>
                </a:solidFill>
                <a:latin typeface="Consolas"/>
              </a:rPr>
              <a:t>ALGO-TRADE · Simulation &amp; Modeling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71717A"/>
                </a:solidFill>
                <a:latin typeface="Consolas"/>
              </a:rPr>
              <a:t>02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0B981"/>
                </a:solidFill>
                <a:latin typeface="Consolas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4F4F5"/>
                </a:solidFill>
                <a:latin typeface="Segoe UI"/>
              </a:rPr>
              <a:t>What is Algo-Trade?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A1A1AA"/>
                </a:solidFill>
                <a:latin typeface="Segoe UI"/>
              </a:rPr>
              <a:t>A production-grade, event-driven algorithmic options-trading system written in Python — built strictly for education and paper trading.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743200"/>
            <a:ext cx="3529584" cy="1417320"/>
          </a:xfrm>
          <a:prstGeom prst="roundRect">
            <a:avLst/>
          </a:prstGeom>
          <a:solidFill>
            <a:srgbClr val="161619"/>
          </a:solidFill>
          <a:ln w="12700">
            <a:solidFill>
              <a:srgbClr val="2A2A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2743200"/>
            <a:ext cx="64008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2944368"/>
            <a:ext cx="307238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4F4F5"/>
                </a:solidFill>
                <a:latin typeface="Segoe UI"/>
              </a:rPr>
              <a:t>Scans the market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456432"/>
            <a:ext cx="307238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1A1AA"/>
                </a:solidFill>
                <a:latin typeface="Segoe UI"/>
              </a:rPr>
              <a:t>Pulls top gainers/losers in real time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4256" y="2743200"/>
            <a:ext cx="3529584" cy="1417320"/>
          </a:xfrm>
          <a:prstGeom prst="roundRect">
            <a:avLst/>
          </a:prstGeom>
          <a:solidFill>
            <a:srgbClr val="161619"/>
          </a:solidFill>
          <a:ln w="12700">
            <a:solidFill>
              <a:srgbClr val="2A2A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34256" y="2743200"/>
            <a:ext cx="64008" cy="141732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0288" y="2944368"/>
            <a:ext cx="307238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4F4F5"/>
                </a:solidFill>
                <a:latin typeface="Segoe UI"/>
              </a:rPr>
              <a:t>Filters options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3456432"/>
            <a:ext cx="307238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1A1AA"/>
                </a:solidFill>
                <a:latin typeface="Segoe UI"/>
              </a:rPr>
              <a:t>Volume, open interest, spread, expiry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8431" y="2743200"/>
            <a:ext cx="3529584" cy="1417320"/>
          </a:xfrm>
          <a:prstGeom prst="roundRect">
            <a:avLst/>
          </a:prstGeom>
          <a:solidFill>
            <a:srgbClr val="161619"/>
          </a:solidFill>
          <a:ln w="12700">
            <a:solidFill>
              <a:srgbClr val="2A2A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28431" y="2743200"/>
            <a:ext cx="64008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84463" y="2944368"/>
            <a:ext cx="307238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4F4F5"/>
                </a:solidFill>
                <a:latin typeface="Segoe UI"/>
              </a:rPr>
              <a:t>Generates signals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3" y="3456432"/>
            <a:ext cx="307238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1A1AA"/>
                </a:solidFill>
                <a:latin typeface="Segoe UI"/>
              </a:rPr>
              <a:t>RSI + MACD momentum confirmation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343400"/>
            <a:ext cx="3529584" cy="1417320"/>
          </a:xfrm>
          <a:prstGeom prst="roundRect">
            <a:avLst/>
          </a:prstGeom>
          <a:solidFill>
            <a:srgbClr val="161619"/>
          </a:solidFill>
          <a:ln w="12700">
            <a:solidFill>
              <a:srgbClr val="2A2A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0" y="4343400"/>
            <a:ext cx="64008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96112" y="4544568"/>
            <a:ext cx="307238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4F4F5"/>
                </a:solidFill>
                <a:latin typeface="Segoe UI"/>
              </a:rPr>
              <a:t>Plans the trade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5056632"/>
            <a:ext cx="307238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1A1AA"/>
                </a:solidFill>
                <a:latin typeface="Segoe UI"/>
              </a:rPr>
              <a:t>Entry, stop-loss, take-profit via ATR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34256" y="4343400"/>
            <a:ext cx="3529584" cy="1417320"/>
          </a:xfrm>
          <a:prstGeom prst="roundRect">
            <a:avLst/>
          </a:prstGeom>
          <a:solidFill>
            <a:srgbClr val="161619"/>
          </a:solidFill>
          <a:ln w="12700">
            <a:solidFill>
              <a:srgbClr val="2A2A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334256" y="4343400"/>
            <a:ext cx="64008" cy="141732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90288" y="4544568"/>
            <a:ext cx="307238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4F4F5"/>
                </a:solidFill>
                <a:latin typeface="Segoe UI"/>
              </a:rPr>
              <a:t>Manages risk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0288" y="5056632"/>
            <a:ext cx="307238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1A1AA"/>
                </a:solidFill>
                <a:latin typeface="Segoe UI"/>
              </a:rPr>
              <a:t>Position sizing, PDT, daily breaker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28431" y="4343400"/>
            <a:ext cx="3529584" cy="1417320"/>
          </a:xfrm>
          <a:prstGeom prst="roundRect">
            <a:avLst/>
          </a:prstGeom>
          <a:solidFill>
            <a:srgbClr val="161619"/>
          </a:solidFill>
          <a:ln w="12700">
            <a:solidFill>
              <a:srgbClr val="2A2A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028431" y="4343400"/>
            <a:ext cx="64008" cy="141732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84463" y="4544568"/>
            <a:ext cx="307238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4F4F5"/>
                </a:solidFill>
                <a:latin typeface="Segoe UI"/>
              </a:rPr>
              <a:t>Simulates / executes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84463" y="5056632"/>
            <a:ext cx="307238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1A1AA"/>
                </a:solidFill>
                <a:latin typeface="Segoe UI"/>
              </a:rPr>
              <a:t>Mock broker, backtest, or live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71717A"/>
                </a:solidFill>
                <a:latin typeface="Consolas"/>
              </a:rPr>
              <a:t>ALGO-TRADE · Simulation &amp; Modeling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71717A"/>
                </a:solidFill>
                <a:latin typeface="Consolas"/>
              </a:rPr>
              <a:t>03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38BDF8"/>
                </a:solidFill>
                <a:latin typeface="Consolas"/>
              </a:rPr>
              <a:t>COURSE CONNECTION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4F4F5"/>
                </a:solidFill>
                <a:latin typeface="Segoe UI"/>
              </a:rPr>
              <a:t>How it maps to Simulation &amp; Modeling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74519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92807"/>
            <a:ext cx="33832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4F4F5"/>
                </a:solidFill>
                <a:latin typeface="Segoe UI"/>
              </a:rPr>
              <a:t>Mathematical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892807"/>
            <a:ext cx="71323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A1A1AA"/>
                </a:solidFill>
                <a:latin typeface="Segoe UI"/>
              </a:rPr>
              <a:t>RSI, MACD, ATR turn raw prices into bounded, computable indicators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523744"/>
            <a:ext cx="109728" cy="56692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542032"/>
            <a:ext cx="33832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4F4F5"/>
                </a:solidFill>
                <a:latin typeface="Segoe UI"/>
              </a:rPr>
              <a:t>Discrete-event simulation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542032"/>
            <a:ext cx="71323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A1A1AA"/>
                </a:solidFill>
                <a:latin typeface="Segoe UI"/>
              </a:rPr>
              <a:t>An event bus drives the system: tick → signal → order → fill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172968"/>
            <a:ext cx="109728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3191256"/>
            <a:ext cx="33832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4F4F5"/>
                </a:solidFill>
                <a:latin typeface="Segoe UI"/>
              </a:rPr>
              <a:t>System under 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3191256"/>
            <a:ext cx="71323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A1A1AA"/>
                </a:solidFill>
                <a:latin typeface="Segoe UI"/>
              </a:rPr>
              <a:t>Strategy rules are the model we evaluate for performance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822191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3840479"/>
            <a:ext cx="33832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4F4F5"/>
                </a:solidFill>
                <a:latin typeface="Segoe UI"/>
              </a:rPr>
              <a:t>Historical simulation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840479"/>
            <a:ext cx="71323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A1A1AA"/>
                </a:solidFill>
                <a:latin typeface="Segoe UI"/>
              </a:rPr>
              <a:t>Backtester replays recorded minute-bars to measure outcomes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471416"/>
            <a:ext cx="109728" cy="56692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4489703"/>
            <a:ext cx="33832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4F4F5"/>
                </a:solidFill>
                <a:latin typeface="Segoe UI"/>
              </a:rPr>
              <a:t>Real-time simulation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4489703"/>
            <a:ext cx="71323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A1A1AA"/>
                </a:solidFill>
                <a:latin typeface="Segoe UI"/>
              </a:rPr>
              <a:t>Paper mode runs live data through a mock broker — no real fills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120640"/>
            <a:ext cx="109728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5138927"/>
            <a:ext cx="33832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4F4F5"/>
                </a:solidFill>
                <a:latin typeface="Segoe UI"/>
              </a:rPr>
              <a:t>Stochastic input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5138927"/>
            <a:ext cx="71323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A1A1AA"/>
                </a:solidFill>
                <a:latin typeface="Segoe UI"/>
              </a:rPr>
              <a:t>Mock market adapter generates synthetic price paths for testing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769864"/>
            <a:ext cx="109728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" y="5788151"/>
            <a:ext cx="33832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4F4F5"/>
                </a:solidFill>
                <a:latin typeface="Segoe UI"/>
              </a:rPr>
              <a:t>Validation &amp; metrics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5788151"/>
            <a:ext cx="71323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A1A1AA"/>
                </a:solidFill>
                <a:latin typeface="Segoe UI"/>
              </a:rPr>
              <a:t>Win rate, P&amp;L, signal counts quantify model quality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71717A"/>
                </a:solidFill>
                <a:latin typeface="Consolas"/>
              </a:rPr>
              <a:t>ALGO-TRADE · Simulation &amp; Modeling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6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71717A"/>
                </a:solidFill>
                <a:latin typeface="Consolas"/>
              </a:rPr>
              <a:t>04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0B981"/>
                </a:solidFill>
                <a:latin typeface="Consolas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4F4F5"/>
                </a:solidFill>
                <a:latin typeface="Segoe UI"/>
              </a:rPr>
              <a:t>Event-driven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A1A1AA"/>
                </a:solidFill>
                <a:latin typeface="Segoe UI"/>
              </a:rPr>
              <a:t>Each stage emits a typed event onto the bus; the next stage reacts. Components are decoupled and independently testable.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697480"/>
            <a:ext cx="1444752" cy="1371600"/>
          </a:xfrm>
          <a:prstGeom prst="roundRect">
            <a:avLst/>
          </a:prstGeom>
          <a:solidFill>
            <a:srgbClr val="161619"/>
          </a:solidFill>
          <a:ln w="158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898648"/>
            <a:ext cx="1444752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4F4F5"/>
                </a:solidFill>
                <a:latin typeface="Segoe UI"/>
              </a:rPr>
              <a:t>Market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4F4F5"/>
                </a:solidFill>
                <a:latin typeface="Segoe UI"/>
              </a:rPr>
              <a:t>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611880"/>
            <a:ext cx="14447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A1A1AA"/>
                </a:solidFill>
                <a:latin typeface="Consolas"/>
              </a:rPr>
              <a:t>FMP · Yahoo · Mock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093976" y="3291840"/>
            <a:ext cx="182880" cy="182880"/>
          </a:xfrm>
          <a:prstGeom prst="rightArrow">
            <a:avLst/>
          </a:prstGeom>
          <a:solidFill>
            <a:srgbClr val="717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286000" y="2697480"/>
            <a:ext cx="1444752" cy="1371600"/>
          </a:xfrm>
          <a:prstGeom prst="roundRect">
            <a:avLst/>
          </a:prstGeom>
          <a:solidFill>
            <a:srgbClr val="161619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86000" y="2898648"/>
            <a:ext cx="1444752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4F4F5"/>
                </a:solidFill>
                <a:latin typeface="Segoe UI"/>
              </a:rPr>
              <a:t>Screener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3611880"/>
            <a:ext cx="14447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A1A1AA"/>
                </a:solidFill>
                <a:latin typeface="Consolas"/>
              </a:rPr>
              <a:t>Top gainers/losers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739896" y="3291840"/>
            <a:ext cx="182880" cy="182880"/>
          </a:xfrm>
          <a:prstGeom prst="rightArrow">
            <a:avLst/>
          </a:prstGeom>
          <a:solidFill>
            <a:srgbClr val="717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931920" y="2697480"/>
            <a:ext cx="1444752" cy="1371600"/>
          </a:xfrm>
          <a:prstGeom prst="roundRect">
            <a:avLst/>
          </a:prstGeom>
          <a:solidFill>
            <a:srgbClr val="161619"/>
          </a:solidFill>
          <a:ln w="158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931920" y="2898648"/>
            <a:ext cx="1444752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4F4F5"/>
                </a:solidFill>
                <a:latin typeface="Segoe UI"/>
              </a:rPr>
              <a:t>Options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4F4F5"/>
                </a:solidFill>
                <a:latin typeface="Segoe UI"/>
              </a:rPr>
              <a:t>Fetcher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3611880"/>
            <a:ext cx="14447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A1A1AA"/>
                </a:solidFill>
                <a:latin typeface="Consolas"/>
              </a:rPr>
              <a:t>Liquidity filter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385816" y="3291840"/>
            <a:ext cx="182880" cy="182880"/>
          </a:xfrm>
          <a:prstGeom prst="rightArrow">
            <a:avLst/>
          </a:prstGeom>
          <a:solidFill>
            <a:srgbClr val="717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577840" y="2697480"/>
            <a:ext cx="1444752" cy="1371600"/>
          </a:xfrm>
          <a:prstGeom prst="roundRect">
            <a:avLst/>
          </a:prstGeom>
          <a:solidFill>
            <a:srgbClr val="161619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577840" y="2898648"/>
            <a:ext cx="1444752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4F4F5"/>
                </a:solidFill>
                <a:latin typeface="Segoe UI"/>
              </a:rPr>
              <a:t>Indicators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77840" y="3611880"/>
            <a:ext cx="14447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A1A1AA"/>
                </a:solidFill>
                <a:latin typeface="Consolas"/>
              </a:rPr>
              <a:t>RSI · MACD · ATR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031736" y="3291840"/>
            <a:ext cx="182880" cy="182880"/>
          </a:xfrm>
          <a:prstGeom prst="rightArrow">
            <a:avLst/>
          </a:prstGeom>
          <a:solidFill>
            <a:srgbClr val="717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223759" y="2697480"/>
            <a:ext cx="1444752" cy="1371600"/>
          </a:xfrm>
          <a:prstGeom prst="roundRect">
            <a:avLst/>
          </a:prstGeom>
          <a:solidFill>
            <a:srgbClr val="161619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223759" y="2898648"/>
            <a:ext cx="1444752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4F4F5"/>
                </a:solidFill>
                <a:latin typeface="Segoe UI"/>
              </a:rPr>
              <a:t>Strategy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4F4F5"/>
                </a:solidFill>
                <a:latin typeface="Segoe UI"/>
              </a:rPr>
              <a:t>Engine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59" y="3611880"/>
            <a:ext cx="14447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A1A1AA"/>
                </a:solidFill>
                <a:latin typeface="Consolas"/>
              </a:rPr>
              <a:t>Signal + confirm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677656" y="3291840"/>
            <a:ext cx="182880" cy="182880"/>
          </a:xfrm>
          <a:prstGeom prst="rightArrow">
            <a:avLst/>
          </a:prstGeom>
          <a:solidFill>
            <a:srgbClr val="717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869680" y="2697480"/>
            <a:ext cx="1444752" cy="1371600"/>
          </a:xfrm>
          <a:prstGeom prst="roundRect">
            <a:avLst/>
          </a:prstGeom>
          <a:solidFill>
            <a:srgbClr val="161619"/>
          </a:solidFill>
          <a:ln w="15875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869680" y="2898648"/>
            <a:ext cx="1444752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4F4F5"/>
                </a:solidFill>
                <a:latin typeface="Segoe UI"/>
              </a:rPr>
              <a:t>Risk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4F4F5"/>
                </a:solidFill>
                <a:latin typeface="Segoe UI"/>
              </a:rPr>
              <a:t>Manager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0" y="3611880"/>
            <a:ext cx="14447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A1A1AA"/>
                </a:solidFill>
                <a:latin typeface="Consolas"/>
              </a:rPr>
              <a:t>Size · limits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10323576" y="3291840"/>
            <a:ext cx="182880" cy="182880"/>
          </a:xfrm>
          <a:prstGeom prst="rightArrow">
            <a:avLst/>
          </a:prstGeom>
          <a:solidFill>
            <a:srgbClr val="717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0515600" y="2697480"/>
            <a:ext cx="1444752" cy="1371600"/>
          </a:xfrm>
          <a:prstGeom prst="roundRect">
            <a:avLst/>
          </a:prstGeom>
          <a:solidFill>
            <a:srgbClr val="161619"/>
          </a:solidFill>
          <a:ln w="158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515600" y="2898648"/>
            <a:ext cx="1444752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4F4F5"/>
                </a:solidFill>
                <a:latin typeface="Segoe UI"/>
              </a:rPr>
              <a:t>Execution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3611880"/>
            <a:ext cx="14447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A1A1AA"/>
                </a:solidFill>
                <a:latin typeface="Consolas"/>
              </a:rPr>
              <a:t>Mock / Webull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4434840"/>
            <a:ext cx="10899648" cy="457200"/>
          </a:xfrm>
          <a:prstGeom prst="roundRect">
            <a:avLst/>
          </a:prstGeom>
          <a:solidFill>
            <a:srgbClr val="1F1F24"/>
          </a:solidFill>
          <a:ln w="12700">
            <a:solidFill>
              <a:srgbClr val="2A2A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0080" y="4480560"/>
            <a:ext cx="1089964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A1A1AA"/>
                </a:solidFill>
                <a:latin typeface="Consolas"/>
              </a:rPr>
              <a:t>◀  EVENT BUS  (typed events: Tick · Signal · Order · Fill)  ▶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5120640"/>
            <a:ext cx="3474720" cy="1005840"/>
          </a:xfrm>
          <a:prstGeom prst="roundRect">
            <a:avLst/>
          </a:prstGeom>
          <a:solidFill>
            <a:srgbClr val="161619"/>
          </a:solidFill>
          <a:ln w="12700">
            <a:solidFill>
              <a:srgbClr val="2A2A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40080" y="5120640"/>
            <a:ext cx="64008" cy="100584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96112" y="5321807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4F4F5"/>
                </a:solidFill>
                <a:latin typeface="Segoe UI"/>
              </a:rPr>
              <a:t>Persistence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6112" y="5609844"/>
            <a:ext cx="3017520" cy="91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 dirty="0">
                <a:solidFill>
                  <a:srgbClr val="A1A1AA"/>
                </a:solidFill>
                <a:latin typeface="Segoe UI"/>
              </a:rPr>
              <a:t>SQLite/SQLAlchemy — signals,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 dirty="0">
                <a:solidFill>
                  <a:srgbClr val="A1A1AA"/>
                </a:solidFill>
                <a:latin typeface="Segoe UI"/>
              </a:rPr>
              <a:t>positions, history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52544" y="5120640"/>
            <a:ext cx="3474720" cy="1005840"/>
          </a:xfrm>
          <a:prstGeom prst="roundRect">
            <a:avLst/>
          </a:prstGeom>
          <a:solidFill>
            <a:srgbClr val="161619"/>
          </a:solidFill>
          <a:ln w="12700">
            <a:solidFill>
              <a:srgbClr val="2A2A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352544" y="5120640"/>
            <a:ext cx="64008" cy="10058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608576" y="5321807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4F4F5"/>
                </a:solidFill>
                <a:latin typeface="Segoe UI"/>
              </a:rPr>
              <a:t>API + Dashboard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08576" y="5641847"/>
            <a:ext cx="3017520" cy="91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 dirty="0">
                <a:solidFill>
                  <a:srgbClr val="A1A1AA"/>
                </a:solidFill>
                <a:latin typeface="Segoe UI"/>
              </a:rPr>
              <a:t>aiohttp REST + Next.js UI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 dirty="0">
                <a:solidFill>
                  <a:srgbClr val="A1A1AA"/>
                </a:solidFill>
                <a:latin typeface="Segoe UI"/>
              </a:rPr>
              <a:t>with live SSE telemetry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65008" y="5120640"/>
            <a:ext cx="3474720" cy="1005840"/>
          </a:xfrm>
          <a:prstGeom prst="roundRect">
            <a:avLst/>
          </a:prstGeom>
          <a:solidFill>
            <a:srgbClr val="161619"/>
          </a:solidFill>
          <a:ln w="12700">
            <a:solidFill>
              <a:srgbClr val="2A2A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8065008" y="5120640"/>
            <a:ext cx="64008" cy="10058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321040" y="5321807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4F4F5"/>
                </a:solidFill>
                <a:latin typeface="Segoe UI"/>
              </a:rPr>
              <a:t>Observability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21040" y="5641847"/>
            <a:ext cx="3017520" cy="91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 dirty="0">
                <a:solidFill>
                  <a:srgbClr val="A1A1AA"/>
                </a:solidFill>
                <a:latin typeface="Segoe UI"/>
              </a:rPr>
              <a:t>Structured JSON logs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 dirty="0">
                <a:solidFill>
                  <a:srgbClr val="A1A1AA"/>
                </a:solidFill>
                <a:latin typeface="Segoe UI"/>
              </a:rPr>
              <a:t>with secret redaction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71717A"/>
                </a:solidFill>
                <a:latin typeface="Consolas"/>
              </a:rPr>
              <a:t>ALGO-TRADE · Simulation &amp; Modeling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42416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71717A"/>
                </a:solidFill>
                <a:latin typeface="Consolas"/>
              </a:rPr>
              <a:t>05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59E0B"/>
                </a:solidFill>
                <a:latin typeface="Consolas"/>
              </a:rPr>
              <a:t>THE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4F4F5"/>
                </a:solidFill>
                <a:latin typeface="Segoe UI"/>
              </a:rPr>
              <a:t>Turning price into math: the indicators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3529584" cy="3749039"/>
          </a:xfrm>
          <a:prstGeom prst="roundRect">
            <a:avLst/>
          </a:prstGeom>
          <a:solidFill>
            <a:srgbClr val="161619"/>
          </a:solidFill>
          <a:ln w="12700">
            <a:solidFill>
              <a:srgbClr val="2A2A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874519"/>
            <a:ext cx="64008" cy="3749039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2075688"/>
            <a:ext cx="307238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4F4F5"/>
                </a:solidFill>
                <a:latin typeface="Segoe UI"/>
              </a:rPr>
              <a:t>RSI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587752"/>
            <a:ext cx="3072384" cy="28346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1A1AA"/>
                </a:solidFill>
                <a:latin typeface="Segoe UI"/>
              </a:rPr>
              <a:t>Relative Strength Index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endParaRPr sz="1300" b="0" i="0">
              <a:solidFill>
                <a:srgbClr val="A1A1AA"/>
              </a:solidFill>
              <a:latin typeface="Segoe UI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1A1AA"/>
                </a:solidFill>
                <a:latin typeface="Segoe UI"/>
              </a:rPr>
              <a:t>Momentum oscillator, 0–100.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endParaRPr sz="1300" b="0" i="0">
              <a:solidFill>
                <a:srgbClr val="A1A1AA"/>
              </a:solidFill>
              <a:latin typeface="Segoe UI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1A1AA"/>
                </a:solidFill>
                <a:latin typeface="Segoe UI"/>
              </a:rPr>
              <a:t>&gt;70 → overbought (CALL bias)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1A1AA"/>
                </a:solidFill>
                <a:latin typeface="Segoe UI"/>
              </a:rPr>
              <a:t>&lt;30 → oversold (PUT bias)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endParaRPr sz="1300" b="0" i="0">
              <a:solidFill>
                <a:srgbClr val="A1A1AA"/>
              </a:solidFill>
              <a:latin typeface="Segoe UI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1A1AA"/>
                </a:solidFill>
                <a:latin typeface="Segoe UI"/>
              </a:rPr>
              <a:t>Models whether a move is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1A1AA"/>
                </a:solidFill>
                <a:latin typeface="Segoe UI"/>
              </a:rPr>
              <a:t>stretched and likely to turn.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4256" y="1874519"/>
            <a:ext cx="3529584" cy="3749039"/>
          </a:xfrm>
          <a:prstGeom prst="roundRect">
            <a:avLst/>
          </a:prstGeom>
          <a:solidFill>
            <a:srgbClr val="161619"/>
          </a:solidFill>
          <a:ln w="12700">
            <a:solidFill>
              <a:srgbClr val="2A2A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34256" y="1874519"/>
            <a:ext cx="64008" cy="3749039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0288" y="2075688"/>
            <a:ext cx="307238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4F4F5"/>
                </a:solidFill>
                <a:latin typeface="Segoe UI"/>
              </a:rPr>
              <a:t>MACD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587752"/>
            <a:ext cx="3072384" cy="28346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1A1AA"/>
                </a:solidFill>
                <a:latin typeface="Segoe UI"/>
              </a:rPr>
              <a:t>Moving Avg Convergence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1A1AA"/>
                </a:solidFill>
                <a:latin typeface="Segoe UI"/>
              </a:rPr>
              <a:t>Divergence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endParaRPr sz="1300" b="0" i="0">
              <a:solidFill>
                <a:srgbClr val="A1A1AA"/>
              </a:solidFill>
              <a:latin typeface="Segoe UI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1A1AA"/>
                </a:solidFill>
                <a:latin typeface="Segoe UI"/>
              </a:rPr>
              <a:t>Difference of two EMAs vs 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1A1AA"/>
                </a:solidFill>
                <a:latin typeface="Segoe UI"/>
              </a:rPr>
              <a:t>signal line.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endParaRPr sz="1300" b="0" i="0">
              <a:solidFill>
                <a:srgbClr val="A1A1AA"/>
              </a:solidFill>
              <a:latin typeface="Segoe UI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1A1AA"/>
                </a:solidFill>
                <a:latin typeface="Segoe UI"/>
              </a:rPr>
              <a:t>Crossovers confirm trend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1A1AA"/>
                </a:solidFill>
                <a:latin typeface="Segoe UI"/>
              </a:rPr>
              <a:t>direction &amp; strength —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1A1AA"/>
                </a:solidFill>
                <a:latin typeface="Segoe UI"/>
              </a:rPr>
              <a:t>the confirmation filter.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1" y="1874519"/>
            <a:ext cx="3529584" cy="3749039"/>
          </a:xfrm>
          <a:prstGeom prst="roundRect">
            <a:avLst/>
          </a:prstGeom>
          <a:solidFill>
            <a:srgbClr val="161619"/>
          </a:solidFill>
          <a:ln w="12700">
            <a:solidFill>
              <a:srgbClr val="2A2A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28431" y="1874519"/>
            <a:ext cx="64008" cy="3749039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84463" y="2075688"/>
            <a:ext cx="307238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4F4F5"/>
                </a:solidFill>
                <a:latin typeface="Segoe UI"/>
              </a:rPr>
              <a:t>ATR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4463" y="2587752"/>
            <a:ext cx="3072384" cy="28346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1A1AA"/>
                </a:solidFill>
                <a:latin typeface="Segoe UI"/>
              </a:rPr>
              <a:t>Average True Range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endParaRPr sz="1300" b="0" i="0">
              <a:solidFill>
                <a:srgbClr val="A1A1AA"/>
              </a:solidFill>
              <a:latin typeface="Segoe UI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1A1AA"/>
                </a:solidFill>
                <a:latin typeface="Segoe UI"/>
              </a:rPr>
              <a:t>Measures recent volatility.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endParaRPr sz="1300" b="0" i="0">
              <a:solidFill>
                <a:srgbClr val="A1A1AA"/>
              </a:solidFill>
              <a:latin typeface="Segoe UI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1A1AA"/>
                </a:solidFill>
                <a:latin typeface="Segoe UI"/>
              </a:rPr>
              <a:t>Used to size the trade plan: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1A1AA"/>
                </a:solidFill>
                <a:latin typeface="Segoe UI"/>
              </a:rPr>
              <a:t>stop-loss &amp; take-profit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1A1AA"/>
                </a:solidFill>
                <a:latin typeface="Segoe UI"/>
              </a:rPr>
              <a:t>scale with how 'wide' the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1A1AA"/>
                </a:solidFill>
                <a:latin typeface="Segoe UI"/>
              </a:rPr>
              <a:t>market is moving.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endParaRPr sz="1300" b="0" i="0">
              <a:solidFill>
                <a:srgbClr val="A1A1AA"/>
              </a:solidFill>
              <a:latin typeface="Segoe U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0080" y="585216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A1A1AA"/>
                </a:solidFill>
                <a:latin typeface="Segoe UI"/>
              </a:rPr>
              <a:t>Pure functions → </a:t>
            </a:r>
            <a:r>
              <a:rPr sz="1400" b="1" i="0">
                <a:solidFill>
                  <a:srgbClr val="10B981"/>
                </a:solidFill>
                <a:latin typeface="Segoe UI"/>
              </a:rPr>
              <a:t>deterministic, unit-tested, reproducible</a:t>
            </a:r>
            <a:r>
              <a:rPr sz="1400" b="0" i="0">
                <a:solidFill>
                  <a:srgbClr val="A1A1AA"/>
                </a:solidFill>
                <a:latin typeface="Segoe UI"/>
              </a:rPr>
              <a:t>  — the foundation of a trustworthy model.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71717A"/>
                </a:solidFill>
                <a:latin typeface="Consolas"/>
              </a:rPr>
              <a:t>ALGO-TRADE · Simulation &amp; Modeling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71717A"/>
                </a:solidFill>
                <a:latin typeface="Consolas"/>
              </a:rPr>
              <a:t>06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0B981"/>
                </a:solidFill>
                <a:latin typeface="Consolas"/>
              </a:rPr>
              <a:t>THE SIMULATION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4F4F5"/>
                </a:solidFill>
                <a:latin typeface="Segoe UI"/>
              </a:rPr>
              <a:t>Four ways to run the 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5358384" cy="1783080"/>
          </a:xfrm>
          <a:prstGeom prst="roundRect">
            <a:avLst/>
          </a:prstGeom>
          <a:solidFill>
            <a:srgbClr val="161619"/>
          </a:solidFill>
          <a:ln w="12700">
            <a:solidFill>
              <a:srgbClr val="2A2A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874519"/>
            <a:ext cx="64008" cy="17830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96112" y="2103120"/>
            <a:ext cx="1554480" cy="384048"/>
          </a:xfrm>
          <a:prstGeom prst="roundRect">
            <a:avLst/>
          </a:prstGeom>
          <a:solidFill>
            <a:srgbClr val="1F1F24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2144268"/>
            <a:ext cx="155448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0B981"/>
                </a:solidFill>
                <a:latin typeface="Consolas"/>
              </a:rPr>
              <a:t>BACKTEST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39" y="2121408"/>
            <a:ext cx="316382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4F4F5"/>
                </a:solidFill>
                <a:latin typeface="Segoe UI"/>
              </a:rPr>
              <a:t>Historical simulation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651760"/>
            <a:ext cx="485546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A1A1AA"/>
                </a:solidFill>
                <a:latin typeface="Segoe UI"/>
              </a:rPr>
              <a:t>Replay recorded minute-bar CSVs through the full pipeline and print a P&amp;L report. Fast, repeatable evaluation of the strategy.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1874519"/>
            <a:ext cx="5358384" cy="1783080"/>
          </a:xfrm>
          <a:prstGeom prst="roundRect">
            <a:avLst/>
          </a:prstGeom>
          <a:solidFill>
            <a:srgbClr val="161619"/>
          </a:solidFill>
          <a:ln w="12700">
            <a:solidFill>
              <a:srgbClr val="2A2A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81344" y="1874519"/>
            <a:ext cx="64008" cy="178308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437376" y="2103120"/>
            <a:ext cx="1554480" cy="384048"/>
          </a:xfrm>
          <a:prstGeom prst="roundRect">
            <a:avLst/>
          </a:prstGeom>
          <a:solidFill>
            <a:srgbClr val="1F1F24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37376" y="2144268"/>
            <a:ext cx="155448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38BDF8"/>
                </a:solidFill>
                <a:latin typeface="Consolas"/>
              </a:rPr>
              <a:t>PAPER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47304" y="2121408"/>
            <a:ext cx="316382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4F4F5"/>
                </a:solidFill>
                <a:latin typeface="Segoe UI"/>
              </a:rPr>
              <a:t>Real-time simulation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7376" y="2651760"/>
            <a:ext cx="485546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A1A1AA"/>
                </a:solidFill>
                <a:latin typeface="Segoe UI"/>
              </a:rPr>
              <a:t>Live (or synthetic) data flows through the system; the MockBrokerAdapter simulates fills. Full behavior, zero real money.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858768"/>
            <a:ext cx="5358384" cy="1783080"/>
          </a:xfrm>
          <a:prstGeom prst="roundRect">
            <a:avLst/>
          </a:prstGeom>
          <a:solidFill>
            <a:srgbClr val="161619"/>
          </a:solidFill>
          <a:ln w="12700">
            <a:solidFill>
              <a:srgbClr val="2A2A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" y="3858768"/>
            <a:ext cx="64008" cy="17830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96112" y="4087368"/>
            <a:ext cx="1554480" cy="384048"/>
          </a:xfrm>
          <a:prstGeom prst="roundRect">
            <a:avLst/>
          </a:prstGeom>
          <a:solidFill>
            <a:srgbClr val="1F1F24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96112" y="4128515"/>
            <a:ext cx="155448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59E0B"/>
                </a:solidFill>
                <a:latin typeface="Consolas"/>
              </a:rPr>
              <a:t>MANUAL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06039" y="4105656"/>
            <a:ext cx="316382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4F4F5"/>
                </a:solidFill>
                <a:latin typeface="Segoe UI"/>
              </a:rPr>
              <a:t>Decision support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" y="4636007"/>
            <a:ext cx="485546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A1A1AA"/>
                </a:solidFill>
                <a:latin typeface="Segoe UI"/>
              </a:rPr>
              <a:t>Signals are logged as recommendations only — no orders placed. The human stays in the loop.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81344" y="3858768"/>
            <a:ext cx="5358384" cy="1783080"/>
          </a:xfrm>
          <a:prstGeom prst="roundRect">
            <a:avLst/>
          </a:prstGeom>
          <a:solidFill>
            <a:srgbClr val="161619"/>
          </a:solidFill>
          <a:ln w="12700">
            <a:solidFill>
              <a:srgbClr val="2A2A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181344" y="3858768"/>
            <a:ext cx="64008" cy="178308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437376" y="4087368"/>
            <a:ext cx="1554480" cy="384048"/>
          </a:xfrm>
          <a:prstGeom prst="roundRect">
            <a:avLst/>
          </a:prstGeom>
          <a:solidFill>
            <a:srgbClr val="1F1F24"/>
          </a:solidFill>
          <a:ln w="127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37376" y="4128515"/>
            <a:ext cx="155448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EF4444"/>
                </a:solidFill>
                <a:latin typeface="Consolas"/>
              </a:rPr>
              <a:t>AUTOMATED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47304" y="4105656"/>
            <a:ext cx="316382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4F4F5"/>
                </a:solidFill>
                <a:latin typeface="Segoe UI"/>
              </a:rPr>
              <a:t>Live execution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37376" y="4636007"/>
            <a:ext cx="485546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A1A1AA"/>
                </a:solidFill>
                <a:latin typeface="Segoe UI"/>
              </a:rPr>
              <a:t>Real orders via a broker adapter (Webull). Disabled for the demo — shown only to explain the deployment path.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71717A"/>
                </a:solidFill>
                <a:latin typeface="Consolas"/>
              </a:rPr>
              <a:t>ALGO-TRADE · Simulation &amp; Modeling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2416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71717A"/>
                </a:solidFill>
                <a:latin typeface="Consolas"/>
              </a:rPr>
              <a:t>07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EF4444"/>
                </a:solidFill>
                <a:latin typeface="Consolas"/>
              </a:rPr>
              <a:t>RISK 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4F4F5"/>
                </a:solidFill>
                <a:latin typeface="Segoe UI"/>
              </a:rPr>
              <a:t>Modeling what can go wrong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A1A1AA"/>
                </a:solidFill>
                <a:latin typeface="Segoe UI"/>
              </a:rPr>
              <a:t>A trading model is only useful if it can't blow up. Risk rules are first-class components in the simulation.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697480"/>
            <a:ext cx="3529584" cy="3017520"/>
          </a:xfrm>
          <a:prstGeom prst="roundRect">
            <a:avLst/>
          </a:prstGeom>
          <a:solidFill>
            <a:srgbClr val="161619"/>
          </a:solidFill>
          <a:ln w="12700">
            <a:solidFill>
              <a:srgbClr val="2A2A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64008" cy="30175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2898648"/>
            <a:ext cx="307238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4F4F5"/>
                </a:solidFill>
                <a:latin typeface="Segoe UI"/>
              </a:rPr>
              <a:t>Position sizing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410712"/>
            <a:ext cx="3072384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1A1AA"/>
                </a:solidFill>
                <a:latin typeface="Segoe UI"/>
              </a:rPr>
              <a:t>Each trade is capped at 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1A1AA"/>
                </a:solidFill>
                <a:latin typeface="Segoe UI"/>
              </a:rPr>
              <a:t>% of equity (default 5%).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endParaRPr sz="1300" b="0" i="0">
              <a:solidFill>
                <a:srgbClr val="A1A1AA"/>
              </a:solidFill>
              <a:latin typeface="Segoe UI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1A1AA"/>
                </a:solidFill>
                <a:latin typeface="Segoe UI"/>
              </a:rPr>
              <a:t>No single bad bet can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1A1AA"/>
                </a:solidFill>
                <a:latin typeface="Segoe UI"/>
              </a:rPr>
              <a:t>sink the account.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endParaRPr sz="1300" b="0" i="0">
              <a:solidFill>
                <a:srgbClr val="A1A1AA"/>
              </a:solidFill>
              <a:latin typeface="Segoe UI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1A1AA"/>
                </a:solidFill>
                <a:latin typeface="Segoe UI"/>
              </a:rPr>
              <a:t>max_position_pct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4256" y="2697480"/>
            <a:ext cx="3529584" cy="3017520"/>
          </a:xfrm>
          <a:prstGeom prst="roundRect">
            <a:avLst/>
          </a:prstGeom>
          <a:solidFill>
            <a:srgbClr val="161619"/>
          </a:solidFill>
          <a:ln w="12700">
            <a:solidFill>
              <a:srgbClr val="2A2A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34256" y="2697480"/>
            <a:ext cx="64008" cy="30175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0288" y="2898648"/>
            <a:ext cx="307238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4F4F5"/>
                </a:solidFill>
                <a:latin typeface="Segoe UI"/>
              </a:rPr>
              <a:t>Daily circuit breaker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3410712"/>
            <a:ext cx="3072384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1A1AA"/>
                </a:solidFill>
                <a:latin typeface="Segoe UI"/>
              </a:rPr>
              <a:t>Halts all trading when: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endParaRPr sz="1300" b="0" i="0">
              <a:solidFill>
                <a:srgbClr val="A1A1AA"/>
              </a:solidFill>
              <a:latin typeface="Segoe UI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1A1AA"/>
                </a:solidFill>
                <a:latin typeface="Segoe UI"/>
              </a:rPr>
              <a:t>• profit target hit, or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1A1AA"/>
                </a:solidFill>
                <a:latin typeface="Segoe UI"/>
              </a:rPr>
              <a:t>• daily loss limit hit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endParaRPr sz="1300" b="0" i="0">
              <a:solidFill>
                <a:srgbClr val="A1A1AA"/>
              </a:solidFill>
              <a:latin typeface="Segoe UI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1A1AA"/>
                </a:solidFill>
                <a:latin typeface="Segoe UI"/>
              </a:rPr>
              <a:t>Models a 'walk away'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1A1AA"/>
                </a:solidFill>
                <a:latin typeface="Segoe UI"/>
              </a:rPr>
              <a:t>discipline rule.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8431" y="2697480"/>
            <a:ext cx="3529584" cy="3017520"/>
          </a:xfrm>
          <a:prstGeom prst="roundRect">
            <a:avLst/>
          </a:prstGeom>
          <a:solidFill>
            <a:srgbClr val="161619"/>
          </a:solidFill>
          <a:ln w="12700">
            <a:solidFill>
              <a:srgbClr val="2A2A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28431" y="2697480"/>
            <a:ext cx="64008" cy="301752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84463" y="2898648"/>
            <a:ext cx="307238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4F4F5"/>
                </a:solidFill>
                <a:latin typeface="Segoe UI"/>
              </a:rPr>
              <a:t>PDT &amp; limits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3" y="3410712"/>
            <a:ext cx="3072384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1A1AA"/>
                </a:solidFill>
                <a:latin typeface="Segoe UI"/>
              </a:rPr>
              <a:t>Pattern-Day-Trader rule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1A1AA"/>
                </a:solidFill>
                <a:latin typeface="Segoe UI"/>
              </a:rPr>
              <a:t>monitoring + guardrails.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endParaRPr sz="1300" b="0" i="0">
              <a:solidFill>
                <a:srgbClr val="A1A1AA"/>
              </a:solidFill>
              <a:latin typeface="Segoe UI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1A1AA"/>
                </a:solidFill>
                <a:latin typeface="Segoe UI"/>
              </a:rPr>
              <a:t>Keeps the simulated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1A1AA"/>
                </a:solidFill>
                <a:latin typeface="Segoe UI"/>
              </a:rPr>
              <a:t>account within realistic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1A1AA"/>
                </a:solidFill>
                <a:latin typeface="Segoe UI"/>
              </a:rPr>
              <a:t>regulatory constraints.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71717A"/>
                </a:solidFill>
                <a:latin typeface="Consolas"/>
              </a:rPr>
              <a:t>ALGO-TRADE · Simulation &amp; Modeling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71717A"/>
                </a:solidFill>
                <a:latin typeface="Consolas"/>
              </a:rPr>
              <a:t>08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0B981"/>
                </a:solidFill>
                <a:latin typeface="Consolas"/>
              </a:rPr>
              <a:t>THE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4F4F5"/>
                </a:solidFill>
                <a:latin typeface="Segoe UI"/>
              </a:rPr>
              <a:t>A live dashboard for the simulation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828800"/>
            <a:ext cx="5212080" cy="3931920"/>
          </a:xfrm>
          <a:prstGeom prst="roundRect">
            <a:avLst/>
          </a:prstGeom>
          <a:solidFill>
            <a:srgbClr val="161619"/>
          </a:solidFill>
          <a:ln w="12700">
            <a:solidFill>
              <a:srgbClr val="2A2A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0" y="1828800"/>
            <a:ext cx="5212080" cy="411480"/>
          </a:xfrm>
          <a:prstGeom prst="rect">
            <a:avLst/>
          </a:prstGeom>
          <a:solidFill>
            <a:srgbClr val="1F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583680" y="1965960"/>
            <a:ext cx="118872" cy="118872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784848" y="1965960"/>
            <a:ext cx="118872" cy="11887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986016" y="1965960"/>
            <a:ext cx="118872" cy="11887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675120" y="2423160"/>
            <a:ext cx="1097280" cy="868680"/>
          </a:xfrm>
          <a:prstGeom prst="roundRect">
            <a:avLst/>
          </a:prstGeom>
          <a:solidFill>
            <a:srgbClr val="1F1F24"/>
          </a:solidFill>
          <a:ln w="9525">
            <a:solidFill>
              <a:srgbClr val="2A2A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75120" y="251460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00" b="1" i="0">
                <a:solidFill>
                  <a:srgbClr val="71717A"/>
                </a:solidFill>
                <a:latin typeface="Consolas"/>
              </a:rPr>
              <a:t>MARKET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788920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0B981"/>
                </a:solidFill>
                <a:latin typeface="Segoe UI"/>
              </a:rPr>
              <a:t>OPEN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2423160"/>
            <a:ext cx="1097280" cy="868680"/>
          </a:xfrm>
          <a:prstGeom prst="roundRect">
            <a:avLst/>
          </a:prstGeom>
          <a:solidFill>
            <a:srgbClr val="1F1F24"/>
          </a:solidFill>
          <a:ln w="9525">
            <a:solidFill>
              <a:srgbClr val="2A2A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63840" y="251460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00" b="1" i="0">
                <a:solidFill>
                  <a:srgbClr val="71717A"/>
                </a:solidFill>
                <a:latin typeface="Consolas"/>
              </a:rPr>
              <a:t>POSITIONS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2788920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4F4F5"/>
                </a:solidFill>
                <a:latin typeface="Segoe UI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60" y="2423160"/>
            <a:ext cx="1097280" cy="868680"/>
          </a:xfrm>
          <a:prstGeom prst="roundRect">
            <a:avLst/>
          </a:prstGeom>
          <a:solidFill>
            <a:srgbClr val="1F1F24"/>
          </a:solidFill>
          <a:ln w="9525">
            <a:solidFill>
              <a:srgbClr val="2A2A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052560" y="251460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00" b="1" i="0">
                <a:solidFill>
                  <a:srgbClr val="71717A"/>
                </a:solidFill>
                <a:latin typeface="Consolas"/>
              </a:rPr>
              <a:t>SIGNALS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2788920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59E0B"/>
                </a:solidFill>
                <a:latin typeface="Segoe UI"/>
              </a:rPr>
              <a:t>27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241280" y="2423160"/>
            <a:ext cx="1097280" cy="868680"/>
          </a:xfrm>
          <a:prstGeom prst="roundRect">
            <a:avLst/>
          </a:prstGeom>
          <a:solidFill>
            <a:srgbClr val="1F1F24"/>
          </a:solidFill>
          <a:ln w="9525">
            <a:solidFill>
              <a:srgbClr val="2A2A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241280" y="251460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00" b="1" i="0">
                <a:solidFill>
                  <a:srgbClr val="71717A"/>
                </a:solidFill>
                <a:latin typeface="Consolas"/>
              </a:rPr>
              <a:t>UPTIME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2788920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38BDF8"/>
                </a:solidFill>
                <a:latin typeface="Segoe UI"/>
              </a:rPr>
              <a:t>04:12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75120" y="3429000"/>
            <a:ext cx="4663440" cy="2057400"/>
          </a:xfrm>
          <a:prstGeom prst="roundRect">
            <a:avLst/>
          </a:prstGeom>
          <a:solidFill>
            <a:srgbClr val="1F1F24"/>
          </a:solidFill>
          <a:ln w="9525">
            <a:solidFill>
              <a:srgbClr val="2A2A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12280" y="352044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A1A1AA"/>
                </a:solidFill>
                <a:latin typeface="Consolas"/>
              </a:rPr>
              <a:t>PRICE  ·  AAPL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949440" y="3886200"/>
            <a:ext cx="640080" cy="457200"/>
          </a:xfrm>
          <a:prstGeom prst="bentConnector3">
            <a:avLst/>
          </a:prstGeom>
          <a:ln w="25400">
            <a:solidFill>
              <a:srgbClr val="10B9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7589520" y="3703320"/>
            <a:ext cx="548640" cy="640080"/>
          </a:xfrm>
          <a:prstGeom prst="bentConnector3">
            <a:avLst/>
          </a:prstGeom>
          <a:ln w="25400">
            <a:solidFill>
              <a:srgbClr val="10B9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138160" y="3703320"/>
            <a:ext cx="640080" cy="822960"/>
          </a:xfrm>
          <a:prstGeom prst="bentConnector3">
            <a:avLst/>
          </a:prstGeom>
          <a:ln w="25400">
            <a:solidFill>
              <a:srgbClr val="10B9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8778240" y="4069080"/>
            <a:ext cx="731520" cy="457200"/>
          </a:xfrm>
          <a:prstGeom prst="bentConnector3">
            <a:avLst/>
          </a:prstGeom>
          <a:ln w="25400">
            <a:solidFill>
              <a:srgbClr val="10B9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509760" y="4069080"/>
            <a:ext cx="640080" cy="640080"/>
          </a:xfrm>
          <a:prstGeom prst="bentConnector3">
            <a:avLst/>
          </a:prstGeom>
          <a:ln w="25400">
            <a:solidFill>
              <a:srgbClr val="10B9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10149840" y="4297680"/>
            <a:ext cx="731519" cy="411480"/>
          </a:xfrm>
          <a:prstGeom prst="bentConnector3">
            <a:avLst/>
          </a:prstGeom>
          <a:ln w="25400">
            <a:solidFill>
              <a:srgbClr val="10B9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881359" y="4297680"/>
            <a:ext cx="457200" cy="502920"/>
          </a:xfrm>
          <a:prstGeom prst="bentConnector3">
            <a:avLst/>
          </a:prstGeom>
          <a:ln w="25400">
            <a:solidFill>
              <a:srgbClr val="10B9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640080" y="2020824"/>
            <a:ext cx="109728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14400" y="196596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4F4F5"/>
                </a:solidFill>
                <a:latin typeface="Segoe UI"/>
              </a:rPr>
              <a:t>Live dashboard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2331720"/>
            <a:ext cx="5212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A1A1AA"/>
                </a:solidFill>
                <a:latin typeface="Segoe UI"/>
              </a:rPr>
              <a:t>stats, circuit-breaker banner, price chart, order panel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2953512"/>
            <a:ext cx="109728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14400" y="2898648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4F4F5"/>
                </a:solidFill>
                <a:latin typeface="Segoe UI"/>
              </a:rPr>
              <a:t>Positions &amp; Signals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3264408"/>
            <a:ext cx="5212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A1A1AA"/>
                </a:solidFill>
                <a:latin typeface="Segoe UI"/>
              </a:rPr>
              <a:t>real-time tables of what the model is doing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3886199"/>
            <a:ext cx="109728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14400" y="3831335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4F4F5"/>
                </a:solidFill>
                <a:latin typeface="Segoe UI"/>
              </a:rPr>
              <a:t>Backtest &amp; Strategies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4197096"/>
            <a:ext cx="5212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A1A1AA"/>
                </a:solidFill>
                <a:latin typeface="Segoe UI"/>
              </a:rPr>
              <a:t>configure and review simulation runs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4818887"/>
            <a:ext cx="109728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14400" y="4764023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4F4F5"/>
                </a:solidFill>
                <a:latin typeface="Segoe UI"/>
              </a:rPr>
              <a:t>History &amp; Settings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5129783"/>
            <a:ext cx="5212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A1A1AA"/>
                </a:solidFill>
                <a:latin typeface="Segoe UI"/>
              </a:rPr>
              <a:t>audit trail + tune the model's parameters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5806440"/>
            <a:ext cx="5394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71717A"/>
                </a:solidFill>
                <a:latin typeface="Consolas"/>
              </a:rPr>
              <a:t>Next.js · React · Tailwind CSS · lucide icons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71717A"/>
                </a:solidFill>
                <a:latin typeface="Consolas"/>
              </a:rPr>
              <a:t>ALGO-TRADE · Simulation &amp; Modeling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42416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71717A"/>
                </a:solidFill>
                <a:latin typeface="Consolas"/>
              </a:rPr>
              <a:t>09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38BDF8"/>
                </a:solidFill>
                <a:latin typeface="Consolas"/>
              </a:rPr>
              <a:t>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4F4F5"/>
                </a:solidFill>
                <a:latin typeface="Segoe UI"/>
              </a:rPr>
              <a:t>Technology stack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2697480" cy="4023360"/>
          </a:xfrm>
          <a:prstGeom prst="roundRect">
            <a:avLst/>
          </a:prstGeom>
          <a:solidFill>
            <a:srgbClr val="161619"/>
          </a:solidFill>
          <a:ln w="12700">
            <a:solidFill>
              <a:srgbClr val="2A2A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920240"/>
            <a:ext cx="269748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148840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4F4F5"/>
                </a:solidFill>
                <a:latin typeface="Segoe UI"/>
              </a:rPr>
              <a:t>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743200"/>
            <a:ext cx="2286000" cy="301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A1A1AA"/>
                </a:solidFill>
                <a:latin typeface="Consolas"/>
              </a:rPr>
              <a:t>›  Python 3.11+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A1A1AA"/>
                </a:solidFill>
                <a:latin typeface="Consolas"/>
              </a:rPr>
              <a:t>›  asyncio event loop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A1A1AA"/>
                </a:solidFill>
                <a:latin typeface="Consolas"/>
              </a:rPr>
              <a:t>›  aiohttp REST API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A1A1AA"/>
                </a:solidFill>
                <a:latin typeface="Consolas"/>
              </a:rPr>
              <a:t>›  SQLAlchemy + SQLite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A1A1AA"/>
                </a:solidFill>
                <a:latin typeface="Consolas"/>
              </a:rPr>
              <a:t>›  pytest test suite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02152" y="1920240"/>
            <a:ext cx="2697480" cy="4023360"/>
          </a:xfrm>
          <a:prstGeom prst="roundRect">
            <a:avLst/>
          </a:prstGeom>
          <a:solidFill>
            <a:srgbClr val="161619"/>
          </a:solidFill>
          <a:ln w="12700">
            <a:solidFill>
              <a:srgbClr val="2A2A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02152" y="1920240"/>
            <a:ext cx="2697480" cy="640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30752" y="2148840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4F4F5"/>
                </a:solidFill>
                <a:latin typeface="Segoe UI"/>
              </a:rPr>
              <a:t>Modeling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30752" y="2743200"/>
            <a:ext cx="2286000" cy="301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A1A1AA"/>
                </a:solidFill>
                <a:latin typeface="Consolas"/>
              </a:rPr>
              <a:t>›  RSI / MACD / ATR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A1A1AA"/>
                </a:solidFill>
                <a:latin typeface="Consolas"/>
              </a:rPr>
              <a:t>›  Pure-function indicators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A1A1AA"/>
                </a:solidFill>
                <a:latin typeface="Consolas"/>
              </a:rPr>
              <a:t>›  ATR-based trade plans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A1A1AA"/>
                </a:solidFill>
                <a:latin typeface="Consolas"/>
              </a:rPr>
              <a:t>›  Config-driven thresholds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A1A1AA"/>
                </a:solidFill>
                <a:latin typeface="Consolas"/>
              </a:rPr>
              <a:t>›  CEP-style strategy engine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64224" y="1920240"/>
            <a:ext cx="2697480" cy="4023360"/>
          </a:xfrm>
          <a:prstGeom prst="roundRect">
            <a:avLst/>
          </a:prstGeom>
          <a:solidFill>
            <a:srgbClr val="161619"/>
          </a:solidFill>
          <a:ln w="12700">
            <a:solidFill>
              <a:srgbClr val="2A2A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64224" y="1920240"/>
            <a:ext cx="2697480" cy="6400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92824" y="2148840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4F4F5"/>
                </a:solidFill>
                <a:latin typeface="Segoe UI"/>
              </a:rPr>
              <a:t>Frontend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92824" y="2743200"/>
            <a:ext cx="2286000" cy="301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A1A1AA"/>
                </a:solidFill>
                <a:latin typeface="Consolas"/>
              </a:rPr>
              <a:t>›  Next.js (App Router)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A1A1AA"/>
                </a:solidFill>
                <a:latin typeface="Consolas"/>
              </a:rPr>
              <a:t>›  React + TypeScript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A1A1AA"/>
                </a:solidFill>
                <a:latin typeface="Consolas"/>
              </a:rPr>
              <a:t>›  Tailwind CSS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A1A1AA"/>
                </a:solidFill>
                <a:latin typeface="Consolas"/>
              </a:rPr>
              <a:t>›  Live SSE telemetry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A1A1AA"/>
                </a:solidFill>
                <a:latin typeface="Consolas"/>
              </a:rPr>
              <a:t>›  Recharts-style charts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26296" y="1920240"/>
            <a:ext cx="2697480" cy="4023360"/>
          </a:xfrm>
          <a:prstGeom prst="roundRect">
            <a:avLst/>
          </a:prstGeom>
          <a:solidFill>
            <a:srgbClr val="161619"/>
          </a:solidFill>
          <a:ln w="12700">
            <a:solidFill>
              <a:srgbClr val="2A2A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226296" y="1920240"/>
            <a:ext cx="2697480" cy="64008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454896" y="2148840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4F4F5"/>
                </a:solidFill>
                <a:latin typeface="Segoe UI"/>
              </a:rPr>
              <a:t>Ops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54896" y="2743200"/>
            <a:ext cx="2286000" cy="301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A1A1AA"/>
                </a:solidFill>
                <a:latin typeface="Consolas"/>
              </a:rPr>
              <a:t>›  Docker + Compose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A1A1AA"/>
                </a:solidFill>
                <a:latin typeface="Consolas"/>
              </a:rPr>
              <a:t>›  systemd unit file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A1A1AA"/>
                </a:solidFill>
                <a:latin typeface="Consolas"/>
              </a:rPr>
              <a:t>›  Structured JSON logs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A1A1AA"/>
                </a:solidFill>
                <a:latin typeface="Consolas"/>
              </a:rPr>
              <a:t>›  Secret redaction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A1A1AA"/>
                </a:solidFill>
                <a:latin typeface="Consolas"/>
              </a:rPr>
              <a:t>›  Mock + Webull adapters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71717A"/>
                </a:solidFill>
                <a:latin typeface="Consolas"/>
              </a:rPr>
              <a:t>ALGO-TRADE · Simulation &amp; Modeling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71717A"/>
                </a:solidFill>
                <a:latin typeface="Consolas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0B981"/>
                </a:solidFill>
                <a:latin typeface="Consolas"/>
              </a:rPr>
              <a:t>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4F4F5"/>
                </a:solidFill>
                <a:latin typeface="Segoe UI"/>
              </a:rPr>
              <a:t>Running it yourself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6400800" cy="4114800"/>
          </a:xfrm>
          <a:prstGeom prst="roundRect">
            <a:avLst/>
          </a:prstGeom>
          <a:solidFill>
            <a:srgbClr val="161619"/>
          </a:solidFill>
          <a:ln w="12700">
            <a:solidFill>
              <a:srgbClr val="2A2A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71717A"/>
                </a:solidFill>
                <a:latin typeface="Consolas"/>
              </a:rPr>
              <a:t>● ● ●   terminal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14600"/>
            <a:ext cx="5943600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71717A"/>
                </a:solidFill>
                <a:latin typeface="Consolas"/>
              </a:rPr>
              <a:t># 1) Start the backend (paper mode)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0B981"/>
                </a:solidFill>
                <a:latin typeface="Consolas"/>
              </a:rPr>
              <a:t>$ cd algo-trade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0B981"/>
                </a:solidFill>
                <a:latin typeface="Consolas"/>
              </a:rPr>
              <a:t>$ python -m src.cli.main --mode paper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endParaRPr sz="1300" b="0" i="0">
              <a:solidFill>
                <a:srgbClr val="10B981"/>
              </a:solidFill>
              <a:latin typeface="Consolas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71717A"/>
                </a:solidFill>
                <a:latin typeface="Consolas"/>
              </a:rPr>
              <a:t># 2) Start the dashboard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0B981"/>
                </a:solidFill>
                <a:latin typeface="Consolas"/>
              </a:rPr>
              <a:t>$ cd frontend &amp;&amp; npm run dev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38BDF8"/>
                </a:solidFill>
                <a:latin typeface="Consolas"/>
              </a:rPr>
              <a:t>  ▸ open http://localhost:3000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endParaRPr sz="1250" b="0" i="0">
              <a:solidFill>
                <a:srgbClr val="38BDF8"/>
              </a:solidFill>
              <a:latin typeface="Consolas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71717A"/>
                </a:solidFill>
                <a:latin typeface="Consolas"/>
              </a:rPr>
              <a:t># 3) Run a backtest report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0B981"/>
                </a:solidFill>
                <a:latin typeface="Consolas"/>
              </a:rPr>
              <a:t>$ python scripts/backtest.py \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0B981"/>
                </a:solidFill>
                <a:latin typeface="Consolas"/>
              </a:rPr>
              <a:t>      sample_data/minute_sample.csv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1920240"/>
            <a:ext cx="4251960" cy="914400"/>
          </a:xfrm>
          <a:prstGeom prst="roundRect">
            <a:avLst/>
          </a:prstGeom>
          <a:solidFill>
            <a:srgbClr val="161619"/>
          </a:solidFill>
          <a:ln w="12700">
            <a:solidFill>
              <a:srgbClr val="2A2A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0" y="1920240"/>
            <a:ext cx="64008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43800" y="2039112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F4F4F5"/>
                </a:solidFill>
                <a:latin typeface="Segoe UI"/>
              </a:rPr>
              <a:t>No credentials needed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2395728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A1A1AA"/>
                </a:solidFill>
                <a:latin typeface="Segoe UI"/>
              </a:rPr>
              <a:t>Mock provider + mock broker run fully offline.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2953512"/>
            <a:ext cx="4251960" cy="914400"/>
          </a:xfrm>
          <a:prstGeom prst="roundRect">
            <a:avLst/>
          </a:prstGeom>
          <a:solidFill>
            <a:srgbClr val="161619"/>
          </a:solidFill>
          <a:ln w="12700">
            <a:solidFill>
              <a:srgbClr val="2A2A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15200" y="2953512"/>
            <a:ext cx="64008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43800" y="3072384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F4F4F5"/>
                </a:solidFill>
                <a:latin typeface="Segoe UI"/>
              </a:rPr>
              <a:t>Watch the pipeline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342900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A1A1AA"/>
                </a:solidFill>
                <a:latin typeface="Segoe UI"/>
              </a:rPr>
              <a:t>Logs show scan → model → signal → risk → fill.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3986783"/>
            <a:ext cx="4251960" cy="914400"/>
          </a:xfrm>
          <a:prstGeom prst="roundRect">
            <a:avLst/>
          </a:prstGeom>
          <a:solidFill>
            <a:srgbClr val="161619"/>
          </a:solidFill>
          <a:ln w="12700">
            <a:solidFill>
              <a:srgbClr val="2A2A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0" y="3986783"/>
            <a:ext cx="64008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43800" y="4105655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F4F4F5"/>
                </a:solidFill>
                <a:latin typeface="Segoe UI"/>
              </a:rPr>
              <a:t>Open the dashboard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4462271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A1A1AA"/>
                </a:solidFill>
                <a:latin typeface="Segoe UI"/>
              </a:rPr>
              <a:t>Live stats, chart, and circuit-breaker banner.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5020055"/>
            <a:ext cx="4251960" cy="914400"/>
          </a:xfrm>
          <a:prstGeom prst="roundRect">
            <a:avLst/>
          </a:prstGeom>
          <a:solidFill>
            <a:srgbClr val="161619"/>
          </a:solidFill>
          <a:ln w="12700">
            <a:solidFill>
              <a:srgbClr val="2A2A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315200" y="5020055"/>
            <a:ext cx="64008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543800" y="5138927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F4F4F5"/>
                </a:solidFill>
                <a:latin typeface="Segoe UI"/>
              </a:rPr>
              <a:t>Show a backtest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43800" y="5495544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A1A1AA"/>
                </a:solidFill>
                <a:latin typeface="Segoe UI"/>
              </a:rPr>
              <a:t>Print win rate &amp; P&amp;L over historical data.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71717A"/>
                </a:solidFill>
                <a:latin typeface="Consolas"/>
              </a:rPr>
              <a:t>ALGO-TRADE · Simulation &amp; Modeling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71717A"/>
                </a:solidFill>
                <a:latin typeface="Consolas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0B981"/>
                </a:solidFill>
                <a:latin typeface="Consolas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4F4F5"/>
                </a:solidFill>
                <a:latin typeface="Segoe UI"/>
              </a:rPr>
              <a:t>What the simulation tells 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A1A1AA"/>
                </a:solidFill>
                <a:latin typeface="Segoe UI"/>
              </a:rPr>
              <a:t>Every run produces measurable output — exactly what a Simulation &amp; Modeling project needs to evaluate a model.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697480"/>
            <a:ext cx="2697480" cy="1554480"/>
          </a:xfrm>
          <a:prstGeom prst="roundRect">
            <a:avLst/>
          </a:prstGeom>
          <a:solidFill>
            <a:srgbClr val="161619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880360"/>
            <a:ext cx="2697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4F4F5"/>
                </a:solidFill>
                <a:latin typeface="Segoe UI"/>
              </a:rPr>
              <a:t>Signal count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26974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A1A1AA"/>
                </a:solidFill>
                <a:latin typeface="Segoe UI"/>
              </a:rPr>
              <a:t>How often the model fired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02152" y="2697480"/>
            <a:ext cx="2697480" cy="1554480"/>
          </a:xfrm>
          <a:prstGeom prst="roundRect">
            <a:avLst/>
          </a:prstGeom>
          <a:solidFill>
            <a:srgbClr val="161619"/>
          </a:solidFill>
          <a:ln w="158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02152" y="2880360"/>
            <a:ext cx="2697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4F4F5"/>
                </a:solidFill>
                <a:latin typeface="Segoe UI"/>
              </a:rPr>
              <a:t>Trades taken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2152" y="3383280"/>
            <a:ext cx="26974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A1A1AA"/>
                </a:solidFill>
                <a:latin typeface="Segoe UI"/>
              </a:rPr>
              <a:t>After risk + confirmation filters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64224" y="2697480"/>
            <a:ext cx="2697480" cy="1554480"/>
          </a:xfrm>
          <a:prstGeom prst="roundRect">
            <a:avLst/>
          </a:prstGeom>
          <a:solidFill>
            <a:srgbClr val="161619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64224" y="2880360"/>
            <a:ext cx="2697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4F4F5"/>
                </a:solidFill>
                <a:latin typeface="Segoe UI"/>
              </a:rPr>
              <a:t>Win 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3383280"/>
            <a:ext cx="26974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A1A1AA"/>
                </a:solidFill>
                <a:latin typeface="Segoe UI"/>
              </a:rPr>
              <a:t>% of simulated trades profitable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26296" y="2697480"/>
            <a:ext cx="2697480" cy="1554480"/>
          </a:xfrm>
          <a:prstGeom prst="roundRect">
            <a:avLst/>
          </a:prstGeom>
          <a:solidFill>
            <a:srgbClr val="161619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226296" y="2880360"/>
            <a:ext cx="2697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4F4F5"/>
                </a:solidFill>
                <a:latin typeface="Segoe UI"/>
              </a:rPr>
              <a:t>Net P&amp;L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26296" y="3383280"/>
            <a:ext cx="26974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A1A1AA"/>
                </a:solidFill>
                <a:latin typeface="Segoe UI"/>
              </a:rPr>
              <a:t>Total simulated gain / loss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663440"/>
            <a:ext cx="109728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0B981"/>
                </a:solidFill>
                <a:latin typeface="Segoe UI"/>
              </a:rPr>
              <a:t>Why this matters: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A1A1AA"/>
                </a:solidFill>
                <a:latin typeface="Segoe UI"/>
              </a:rPr>
              <a:t>Because the model is deterministic and the simulation is repeatable, we can change one parameter (say RSI threshold or position size), re-run, and directly compare results — the core experimental loop of modeling.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71717A"/>
                </a:solidFill>
                <a:latin typeface="Consolas"/>
              </a:rPr>
              <a:t>ALGO-TRADE · Simulation &amp; Modeling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71717A"/>
                </a:solidFill>
                <a:latin typeface="Consolas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0B981"/>
                </a:solidFill>
                <a:latin typeface="Consolas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4F4F5"/>
                </a:solidFill>
                <a:latin typeface="Segoe UI"/>
              </a:rPr>
              <a:t>Key takeaways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10899648" cy="749808"/>
          </a:xfrm>
          <a:prstGeom prst="roundRect">
            <a:avLst/>
          </a:prstGeom>
          <a:solidFill>
            <a:srgbClr val="161619"/>
          </a:solidFill>
          <a:ln w="12700">
            <a:solidFill>
              <a:srgbClr val="2A2A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920240"/>
            <a:ext cx="91440" cy="7498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60120" y="2139696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10312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A0A0B"/>
                </a:solidFill>
                <a:latin typeface="Segoe U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029968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4F4F5"/>
                </a:solidFill>
                <a:latin typeface="Segoe UI"/>
              </a:rPr>
              <a:t>Models a real-world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029968"/>
            <a:ext cx="54864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A1A1AA"/>
                </a:solidFill>
                <a:latin typeface="Segoe UI"/>
              </a:rPr>
              <a:t>Market behavior captured as testable math (RSI/MACD/ATR).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779776"/>
            <a:ext cx="10899648" cy="749808"/>
          </a:xfrm>
          <a:prstGeom prst="roundRect">
            <a:avLst/>
          </a:prstGeom>
          <a:solidFill>
            <a:srgbClr val="161619"/>
          </a:solidFill>
          <a:ln w="12700">
            <a:solidFill>
              <a:srgbClr val="2A2A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" y="2779776"/>
            <a:ext cx="91440" cy="74980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60120" y="2999232"/>
            <a:ext cx="310896" cy="310896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2962656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A0A0B"/>
                </a:solidFill>
                <a:latin typeface="Segoe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2889504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4F4F5"/>
                </a:solidFill>
                <a:latin typeface="Segoe UI"/>
              </a:rPr>
              <a:t>Simulation-first 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2889504"/>
            <a:ext cx="54864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A1A1AA"/>
                </a:solidFill>
                <a:latin typeface="Segoe UI"/>
              </a:rPr>
              <a:t>Backtest + paper modes let us evaluate safely, repeatably.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639312"/>
            <a:ext cx="10899648" cy="749808"/>
          </a:xfrm>
          <a:prstGeom prst="roundRect">
            <a:avLst/>
          </a:prstGeom>
          <a:solidFill>
            <a:srgbClr val="161619"/>
          </a:solidFill>
          <a:ln w="12700">
            <a:solidFill>
              <a:srgbClr val="2A2A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" y="3639312"/>
            <a:ext cx="91440" cy="749808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60120" y="3858768"/>
            <a:ext cx="310896" cy="310896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0120" y="3822191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A0A0B"/>
                </a:solidFill>
                <a:latin typeface="Segoe U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749039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4F4F5"/>
                </a:solidFill>
                <a:latin typeface="Segoe UI"/>
              </a:rPr>
              <a:t>Risk is part of the model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3749039"/>
            <a:ext cx="54864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A1A1AA"/>
                </a:solidFill>
                <a:latin typeface="Segoe UI"/>
              </a:rPr>
              <a:t>Sizing &amp; circuit breaker keep the simulation realistic.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498848"/>
            <a:ext cx="10899648" cy="749808"/>
          </a:xfrm>
          <a:prstGeom prst="roundRect">
            <a:avLst/>
          </a:prstGeom>
          <a:solidFill>
            <a:srgbClr val="161619"/>
          </a:solidFill>
          <a:ln w="12700">
            <a:solidFill>
              <a:srgbClr val="2A2A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40080" y="4498848"/>
            <a:ext cx="91440" cy="7498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960120" y="4718304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60120" y="4681728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A0A0B"/>
                </a:solidFill>
                <a:latin typeface="Segoe U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4608576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4F4F5"/>
                </a:solidFill>
                <a:latin typeface="Segoe UI"/>
              </a:rPr>
              <a:t>Clean, modular engineering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4608576"/>
            <a:ext cx="54864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A1A1AA"/>
                </a:solidFill>
                <a:latin typeface="Segoe UI"/>
              </a:rPr>
              <a:t>Event-driven, decoupled, unit-tested components.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5358383"/>
            <a:ext cx="10899648" cy="749808"/>
          </a:xfrm>
          <a:prstGeom prst="roundRect">
            <a:avLst/>
          </a:prstGeom>
          <a:solidFill>
            <a:srgbClr val="161619"/>
          </a:solidFill>
          <a:ln w="12700">
            <a:solidFill>
              <a:srgbClr val="2A2A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40080" y="5358383"/>
            <a:ext cx="91440" cy="74980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960120" y="5577840"/>
            <a:ext cx="310896" cy="310896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60120" y="5541264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A0A0B"/>
                </a:solidFill>
                <a:latin typeface="Segoe UI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63040" y="5468112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4F4F5"/>
                </a:solidFill>
                <a:latin typeface="Segoe UI"/>
              </a:rPr>
              <a:t>Full-stack &amp; demoable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0" y="5468112"/>
            <a:ext cx="54864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A1A1AA"/>
                </a:solidFill>
                <a:latin typeface="Segoe UI"/>
              </a:rPr>
              <a:t>Python backend + live Next.js dashboard, runs offline.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71717A"/>
                </a:solidFill>
                <a:latin typeface="Consolas"/>
              </a:rPr>
              <a:t>ALGO-TRADE · Simulation &amp; Modeling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2416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71717A"/>
                </a:solidFill>
                <a:latin typeface="Consolas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680960" y="0"/>
            <a:ext cx="4507992" cy="6858000"/>
          </a:xfrm>
          <a:prstGeom prst="rect">
            <a:avLst/>
          </a:prstGeom>
          <a:solidFill>
            <a:srgbClr val="1616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680960" y="0"/>
            <a:ext cx="18288" cy="6858000"/>
          </a:xfrm>
          <a:prstGeom prst="rect">
            <a:avLst/>
          </a:prstGeom>
          <a:solidFill>
            <a:srgbClr val="2A2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377440"/>
            <a:ext cx="667512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6000" b="1" i="0">
                <a:solidFill>
                  <a:srgbClr val="F4F4F5"/>
                </a:solidFill>
                <a:latin typeface="Segoe UI"/>
              </a:rPr>
              <a:t>Thank you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10B981"/>
                </a:solidFill>
                <a:latin typeface="Segoe UI"/>
              </a:rPr>
              <a:t>Questions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6400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A1A1AA"/>
                </a:solidFill>
                <a:latin typeface="Segoe UI"/>
              </a:rPr>
              <a:t>Algo-Trade — modeling the market, simulating the strategy, and keeping it safe. For educational &amp; paper-trading use only.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486400"/>
            <a:ext cx="7315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71717A"/>
                </a:solidFill>
                <a:latin typeface="Consolas"/>
              </a:rPr>
              <a:t>Presented by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F4F4F5"/>
                </a:solidFill>
                <a:latin typeface="Consolas"/>
              </a:rPr>
              <a:t>Muhammad Ahmad Saleem  F2022065202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F4F4F5"/>
                </a:solidFill>
                <a:latin typeface="Consolas"/>
              </a:rPr>
              <a:t>Danish Salman  F2022065114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F4F4F5"/>
                </a:solidFill>
                <a:latin typeface="Consolas"/>
              </a:rPr>
              <a:t>Irha Shoaib  F2021065136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0" y="2468880"/>
            <a:ext cx="4023360" cy="3657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10B981"/>
                </a:solidFill>
                <a:latin typeface="Consolas"/>
              </a:rPr>
              <a:t>RECAP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endParaRPr sz="1300" b="1" i="0">
              <a:solidFill>
                <a:srgbClr val="10B981"/>
              </a:solidFill>
              <a:latin typeface="Consolas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A1A1AA"/>
                </a:solidFill>
                <a:latin typeface="Consolas"/>
              </a:rPr>
              <a:t>• Model:  RSI · MACD · ATR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A1A1AA"/>
                </a:solidFill>
                <a:latin typeface="Consolas"/>
              </a:rPr>
              <a:t>• Sim:    backtest + paper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A1A1AA"/>
                </a:solidFill>
                <a:latin typeface="Consolas"/>
              </a:rPr>
              <a:t>• Risk:   sizing + breaker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A1A1AA"/>
                </a:solidFill>
                <a:latin typeface="Consolas"/>
              </a:rPr>
              <a:t>• Stack:  Python + Next.js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A1A1AA"/>
                </a:solidFill>
                <a:latin typeface="Consolas"/>
              </a:rPr>
              <a:t>• Output: P&amp;L · win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71717A"/>
                </a:solidFill>
                <a:latin typeface="Consolas"/>
              </a:rPr>
              <a:t>ALGO-TRADE · Simulation &amp; Modeling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71717A"/>
                </a:solidFill>
                <a:latin typeface="Consolas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1471</Words>
  <Application>Microsoft Office PowerPoint</Application>
  <PresentationFormat>Widescreen</PresentationFormat>
  <Paragraphs>309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Ahmad Saleem</cp:lastModifiedBy>
  <cp:revision>2</cp:revision>
  <dcterms:created xsi:type="dcterms:W3CDTF">2013-01-27T09:14:16Z</dcterms:created>
  <dcterms:modified xsi:type="dcterms:W3CDTF">2026-06-17T18:07:19Z</dcterms:modified>
  <cp:category/>
</cp:coreProperties>
</file>